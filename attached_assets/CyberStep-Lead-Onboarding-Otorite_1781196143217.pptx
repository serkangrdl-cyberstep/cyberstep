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-1828800"/>
            <a:ext cx="9144000" cy="9144000"/>
          </a:xfrm>
          <a:prstGeom prst="ellipse">
            <a:avLst/>
          </a:prstGeom>
          <a:solidFill>
            <a:srgbClr val="003355">
              <a:alpha val="25000"/>
            </a:srgbClr>
          </a:solidFill>
          <a:ln w="12700">
            <a:solidFill>
              <a:srgbClr val="003355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02920"/>
            <a:ext cx="502920" cy="5943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29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576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pPr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146304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Üretimi, Onboarding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Otorite Yolculuğu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457200" y="3429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keşif → qualify → ISR → dönüşüm → marka otoritesi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274320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069080"/>
            <a:ext cx="54864" cy="2103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60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200-300+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457200" y="5047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domain keşfi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83280" y="4069080"/>
            <a:ext cx="274320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280" y="4069080"/>
            <a:ext cx="54864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4160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40" name="Text 38"/>
          <p:cNvSpPr/>
          <p:nvPr/>
        </p:nvSpPr>
        <p:spPr>
          <a:xfrm>
            <a:off x="3383280" y="5047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kaynak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09360" y="4069080"/>
            <a:ext cx="274320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069080"/>
            <a:ext cx="54864" cy="2103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160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6309360" y="5047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adımı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235440" y="4069080"/>
            <a:ext cx="274320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4069080"/>
            <a:ext cx="54864" cy="2103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4160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48" name="Text 46"/>
          <p:cNvSpPr/>
          <p:nvPr/>
        </p:nvSpPr>
        <p:spPr>
          <a:xfrm>
            <a:off x="9235440" y="5047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Otorite kanalı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1 — OTOMATİK DOMAIN KEŞFİ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kaynak, günde 200-300+ Türk domain'i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274320" y="1417320"/>
            <a:ext cx="3749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417320"/>
            <a:ext cx="54864" cy="22402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crt.sh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017520" y="1527048"/>
            <a:ext cx="896112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15270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4 saat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2057400"/>
            <a:ext cx="109728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 6x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237744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sertifika kayıtlarından yeni .tr domainler — sahte domain ve CT log izlemesi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51960" y="1417320"/>
            <a:ext cx="3749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51960" y="1417320"/>
            <a:ext cx="54864" cy="2240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GitHub Actions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Certstream Bridge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95160" y="1527048"/>
            <a:ext cx="896112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15270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10 dk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389120" y="2057400"/>
            <a:ext cx="109728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237744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Certstream WebSocket → GitHub Actions filtresi → Replit ingest. Türk TLD'ler gerçek zamanlı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29600" y="1417320"/>
            <a:ext cx="3749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0" y="1417320"/>
            <a:ext cx="54864" cy="2240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Shodan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972800" y="1527048"/>
            <a:ext cx="896112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0" y="15270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04:15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366760" y="2057400"/>
            <a:ext cx="109728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66760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sorgu/gece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66760" y="237744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port ve servis taraması — savunmasız domain'leri lead olarak işler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794760"/>
            <a:ext cx="3749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3794760"/>
            <a:ext cx="54864" cy="22402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RIPE DNS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017520" y="3904488"/>
            <a:ext cx="896112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0" y="39044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02:00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" y="4434840"/>
            <a:ext cx="109728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434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~40-80/gün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1480" y="47548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IPv4 prefix → reverse DNS → .tr domain keşfi. ASN bazlı kurumsal ağ taraması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51960" y="3794760"/>
            <a:ext cx="3749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51960" y="3794760"/>
            <a:ext cx="54864" cy="22402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BGP.tools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995160" y="3904488"/>
            <a:ext cx="896112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95160" y="39044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06:15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389120" y="4434840"/>
            <a:ext cx="109728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4434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~40-80/gün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389120" y="47548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ASN listesi → prefix örneklemesi → HackerTarget reverse DNS. Ücretsiz, key gerektirmez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229600" y="3794760"/>
            <a:ext cx="374904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29600" y="3794760"/>
            <a:ext cx="54864" cy="224028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6676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Netcraft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API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10972800" y="3904488"/>
            <a:ext cx="896112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972800" y="39044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05:30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366760" y="4434840"/>
            <a:ext cx="109728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66760" y="4434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 TLD DB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366760" y="4754880"/>
            <a:ext cx="3474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 TLD veritabanı araması — sektörel domain keşfi için ek kaynak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2 — ANALİZ → SKORLAMA → KALİFİKASYON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domain otomatik taranır, skorlanır, filtrelenir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274320" y="1417320"/>
            <a:ext cx="2148840" cy="320040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417320"/>
            <a:ext cx="54864" cy="320040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Keşfedildi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" y="210312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lead_candidates tablosuna eklendi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kontrol — zaten varsa atla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23160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606040" y="1417320"/>
            <a:ext cx="2148840" cy="320040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6040" y="1417320"/>
            <a:ext cx="54864" cy="32004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15768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15768" y="210312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SPF/DMARC/DKIM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analizi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port/banner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WordPress/CMS tespiti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937760" y="1417320"/>
            <a:ext cx="2148840" cy="320040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1417320"/>
            <a:ext cx="54864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Skorlaması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47488" y="210312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arası skor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SPF: 0-20 puan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DMARC: 0-25 puan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SSL: 0-25 puan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DKIM: 0-20 puan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86600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269480" y="1417320"/>
            <a:ext cx="2148840" cy="320040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9480" y="1417320"/>
            <a:ext cx="54864" cy="320040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9208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Zenginleştirme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79208" y="210312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HIBP breach kontrolü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VT/AbuseIPDB sorgu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 eşleştirme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 kara liste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418320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601200" y="1417320"/>
            <a:ext cx="2148840" cy="320040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0" y="1417320"/>
            <a:ext cx="54864" cy="3200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10928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Kalifikasyon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710928" y="210312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overallScore &lt; 60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Qualified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overallScore ≥ 60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 izleme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800600"/>
            <a:ext cx="11612880" cy="1810512"/>
          </a:xfrm>
          <a:prstGeom prst="rect">
            <a:avLst/>
          </a:prstGeom>
          <a:solidFill>
            <a:srgbClr val="0A16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89204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KALİFİKASYON KRİTERLERİ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57200" y="5285232"/>
            <a:ext cx="1810512" cy="1170432"/>
          </a:xfrm>
          <a:prstGeom prst="rect">
            <a:avLst/>
          </a:prstGeom>
          <a:solidFill>
            <a:srgbClr val="0D1F3C"/>
          </a:solidFill>
          <a:ln w="10160">
            <a:solidFill>
              <a:srgbClr val="FF4D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53492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overallScore &lt; 60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0352" y="566928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skoru 60 altında → güvenlik açığı var, satış fırsatı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377440" y="5285232"/>
            <a:ext cx="1810512" cy="1170432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50592" y="53492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DMARC yok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450592" y="566928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güvenliği eksik → phishing riski → acil ihtiyaç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97680" y="5285232"/>
            <a:ext cx="1810512" cy="1170432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70832" y="53492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≤ 30 gün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370832" y="566928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 yakında dolacak → acil müdahale tetikleyicisi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5285232"/>
            <a:ext cx="1810512" cy="1170432"/>
          </a:xfrm>
          <a:prstGeom prst="rect">
            <a:avLst/>
          </a:prstGeom>
          <a:solidFill>
            <a:srgbClr val="0D1F3C"/>
          </a:solidFill>
          <a:ln w="10160">
            <a:solidFill>
              <a:srgbClr val="FF4D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91072" y="53492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 eşleşmesi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91072" y="566928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istismar edilen CVE → kritik aciliyet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38160" y="5285232"/>
            <a:ext cx="1810512" cy="1170432"/>
          </a:xfrm>
          <a:prstGeom prst="rect">
            <a:avLst/>
          </a:prstGeom>
          <a:solidFill>
            <a:srgbClr val="0D1F3C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11312" y="53492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HIBP sızıntısı ≥ 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211312" y="566928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 mevcut → dark web risk kaygısı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058400" y="5285232"/>
            <a:ext cx="1810512" cy="1170432"/>
          </a:xfrm>
          <a:prstGeom prst="rect">
            <a:avLst/>
          </a:prstGeom>
          <a:solidFill>
            <a:srgbClr val="0D1F3C"/>
          </a:solidFill>
          <a:ln w="10160">
            <a:solidFill>
              <a:srgbClr val="FF4D4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131552" y="53492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RDP/Telnet açık port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131552" y="566928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Fidye yazılımı giriş noktası → yüksek öncelik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3 — KONTAKT ZENGİNLEŞTİRME &amp; ISR AKIŞI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 → kontakt bul → ISR ekranına düşür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6080760" y="365760"/>
            <a:ext cx="0" cy="64008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2984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Zenginleştirme Kaynakları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1755648"/>
            <a:ext cx="54864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1755648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/ RDAP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kayıtlarından e-posta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1865376"/>
            <a:ext cx="141732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18653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Başarı: %15-20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532888"/>
            <a:ext cx="54864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532888"/>
            <a:ext cx="54864" cy="685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898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/iletisim sayfası e-posta tarama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97680" y="2642616"/>
            <a:ext cx="141732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26426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Başarı: %25-30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310128"/>
            <a:ext cx="54864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310128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MERSIS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3675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yöneticisi adı + unvanı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97680" y="3419856"/>
            <a:ext cx="141732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34198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Başarı: %40-50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087368"/>
            <a:ext cx="54864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4087368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4453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Borsalı şirket e-posta + yetkili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97680" y="4197096"/>
            <a:ext cx="141732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4197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Başarı: %5-10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4864608"/>
            <a:ext cx="54864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864608"/>
            <a:ext cx="54864" cy="68580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Hunter.io / Apollo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2920" y="5230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KOBİ veritabanı kapsamı düşük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97680" y="4974336"/>
            <a:ext cx="141732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49743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Başarı: %5-12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5641848"/>
            <a:ext cx="54864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5641848"/>
            <a:ext cx="54864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5715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(ISR Manuel)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02920" y="6007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Navigator → manuel bulgu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297680" y="5751576"/>
            <a:ext cx="141732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0" y="5751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Başarı: %60-70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400800" y="129844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Admin Ekranı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6400800" y="1719072"/>
            <a:ext cx="5577840" cy="4919472"/>
          </a:xfrm>
          <a:prstGeom prst="rect">
            <a:avLst/>
          </a:prstGeom>
          <a:solidFill>
            <a:srgbClr val="080F1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0" y="1719072"/>
            <a:ext cx="54864" cy="4919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10528" y="18288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Filtre: Qualified  |  Kontakt Eksik  |  SSL &lt;30gün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510528" y="2176272"/>
            <a:ext cx="5349240" cy="0"/>
          </a:xfrm>
          <a:prstGeom prst="line">
            <a:avLst/>
          </a:prstGeom>
          <a:noFill/>
          <a:ln w="10160">
            <a:solidFill>
              <a:srgbClr val="1A28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10528" y="2286000"/>
            <a:ext cx="5349240" cy="822960"/>
          </a:xfrm>
          <a:prstGeom prst="rect">
            <a:avLst/>
          </a:prstGeom>
          <a:solidFill>
            <a:srgbClr val="0A1628"/>
          </a:solidFill>
          <a:ln w="10160">
            <a:solidFill>
              <a:srgbClr val="FF4D4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10528" y="2286000"/>
            <a:ext cx="45720" cy="8229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01968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diktas.com.tr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144000" y="2340864"/>
            <a:ext cx="50292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FF4D4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44000" y="2340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42/100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601968" y="2596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DMARC Yok + RDP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601968" y="2816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info@diktas.com.tr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253728" y="25968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Ahmet Y. (MERSIS)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857232" y="2359152"/>
            <a:ext cx="1005840" cy="2560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57232" y="2359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→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510528" y="3246120"/>
            <a:ext cx="5349240" cy="822960"/>
          </a:xfrm>
          <a:prstGeom prst="rect">
            <a:avLst/>
          </a:prstGeom>
          <a:solidFill>
            <a:srgbClr val="0A1628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10528" y="3246120"/>
            <a:ext cx="4572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01968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logistikplus.com.tr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9144000" y="3300984"/>
            <a:ext cx="50292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44000" y="33009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55/100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601968" y="3557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SSL 18 gün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601968" y="3776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Bulunamadı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253728" y="35570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LinkedIn bekliyor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857232" y="3319272"/>
            <a:ext cx="1005840" cy="2560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857232" y="3319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→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510528" y="4206240"/>
            <a:ext cx="5349240" cy="822960"/>
          </a:xfrm>
          <a:prstGeom prst="rect">
            <a:avLst/>
          </a:prstGeom>
          <a:solidFill>
            <a:srgbClr val="0A1628"/>
          </a:solidFill>
          <a:ln w="10160">
            <a:solidFill>
              <a:srgbClr val="FF4D4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10528" y="4206240"/>
            <a:ext cx="45720" cy="82296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601968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medtech-tr.com.tr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9144000" y="4261104"/>
            <a:ext cx="502920" cy="219456"/>
          </a:xfrm>
          <a:prstGeom prst="rect">
            <a:avLst/>
          </a:prstGeom>
          <a:solidFill>
            <a:srgbClr val="0D1F3C"/>
          </a:solidFill>
          <a:ln w="10160">
            <a:solidFill>
              <a:srgbClr val="FF4D4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144000" y="42611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38/100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601968" y="4517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CISA KEV eşleşmesi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601968" y="4736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it@medtech-tr.com.tr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9253728" y="45171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Mehmet K. / IT Müdürü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857232" y="4279392"/>
            <a:ext cx="1005840" cy="256032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857232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→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510528" y="5212080"/>
            <a:ext cx="5349240" cy="1280160"/>
          </a:xfrm>
          <a:prstGeom prst="rect">
            <a:avLst/>
          </a:prstGeom>
          <a:solidFill>
            <a:srgbClr val="080F1A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29400" y="5303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Rate Limiting Kuralları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6629400" y="5623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Aynı lead'e max 5 dokunuş, 7 gün cooldown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Aynı domain'e haftada max 2 farklı e-posta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dokunuş sonrası otomatik suppress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4 — OTOMATİK OUTREACH → TEASER RAPOR → DÖNÜŞÜM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anda, doğru mesaj, otomatik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65760" y="12984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E-posta Tetikleyicileri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1755648"/>
            <a:ext cx="26974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1755648"/>
            <a:ext cx="54864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SSL 30 günde dolacak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21579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"SSL sertifikanız sona eriyor — ücretsiz taramanızı yapın"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1755648"/>
            <a:ext cx="26974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1755648"/>
            <a:ext cx="54864" cy="9601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CISA KEV CVE eşleşmesi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0128" y="21579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"Altyapınızı etkileyen kritik güvenlik açığı tespit ettik"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2834640"/>
            <a:ext cx="26974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834640"/>
            <a:ext cx="54864" cy="9601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DMARC kaydı yok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" y="32369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"E-postalarınız taklit edilebilir — ücretsiz kontrol edin"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0" y="2834640"/>
            <a:ext cx="26974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283464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Yeni .tr domain keşfi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10128" y="32369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"Sektörünüzde siber güvenlik durumunuzu bilin"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3913632"/>
            <a:ext cx="26974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913632"/>
            <a:ext cx="54864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3986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HIBP sızıntısı tespit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5488" y="43159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"Şirket e-postanız veri ihlalinde tespit edildi"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3913632"/>
            <a:ext cx="26974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3913632"/>
            <a:ext cx="54864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0128" y="3986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Rakip domain tarama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10128" y="43159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"Sektörünüzdeki şirketlerle güvenlik karşılaştırması"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080760" y="365760"/>
            <a:ext cx="0" cy="64008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129844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→ Ücretli Dönüşüm Tüneli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400800" y="1719072"/>
            <a:ext cx="5394960" cy="82296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1719072"/>
            <a:ext cx="54864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972800" y="1792224"/>
            <a:ext cx="68580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00" y="17922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510528" y="1773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E-posta Gönderildi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10528" y="208483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Tetikleyici bazlı kişiselleştirilmiş mesaj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69380" y="2670048"/>
            <a:ext cx="5257800" cy="82296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69380" y="2670048"/>
            <a:ext cx="54864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904220" y="2743200"/>
            <a:ext cx="68580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904220" y="27432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79108" y="27249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Teaser Rapor Açıldı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79108" y="30358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token ile erişilebilir — kayıt yok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gösterilir, detaylar blur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537960" y="3621024"/>
            <a:ext cx="5120640" cy="82296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37960" y="3621024"/>
            <a:ext cx="54864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835640" y="3694176"/>
            <a:ext cx="68580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835640" y="36941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647688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Ücretsiz Tarama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647688" y="398678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tarama → tam skor + 3 bulgu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capture ile ücretsiz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606540" y="4572000"/>
            <a:ext cx="4983480" cy="822960"/>
          </a:xfrm>
          <a:prstGeom prst="rect">
            <a:avLst/>
          </a:prstGeom>
          <a:solidFill>
            <a:srgbClr val="0A18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606540" y="4572000"/>
            <a:ext cx="54864" cy="822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767060" y="4645152"/>
            <a:ext cx="68580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767060" y="46451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716268" y="46268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Tam Rapor Satın Al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716268" y="49377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Iyzico ödeme → PDF rapor anında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da abonelik seç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675120" y="5522976"/>
            <a:ext cx="4846320" cy="82296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75120" y="5522976"/>
            <a:ext cx="54864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98480" y="5596128"/>
            <a:ext cx="685800" cy="256032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698480" y="55961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784848" y="5577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Onboarding Başlar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6784848" y="58887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adımlı aktivasyon süreci başlar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5 — MÜŞTERİ ONBOARDING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Kayıttan aktif müşteriye 5 adımda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1417320" y="2084832"/>
            <a:ext cx="9326880" cy="0"/>
          </a:xfrm>
          <a:prstGeom prst="line">
            <a:avLst/>
          </a:prstGeom>
          <a:noFill/>
          <a:ln w="25400">
            <a:solidFill>
              <a:srgbClr val="1A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1664208"/>
            <a:ext cx="868680" cy="868680"/>
          </a:xfrm>
          <a:prstGeom prst="ellipse">
            <a:avLst/>
          </a:prstGeom>
          <a:solidFill>
            <a:srgbClr val="0D1F3C"/>
          </a:solidFill>
          <a:ln w="3175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65760" y="2724912"/>
            <a:ext cx="2148840" cy="1901952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724912"/>
            <a:ext cx="54864" cy="19019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834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Ekle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" y="3337560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Taranacak domain'i gir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ön tarama başlar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773168"/>
            <a:ext cx="2148840" cy="1170432"/>
          </a:xfrm>
          <a:prstGeom prst="rect">
            <a:avLst/>
          </a:prstGeom>
          <a:solidFill>
            <a:srgbClr val="060D1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773168"/>
            <a:ext cx="54864" cy="1170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864608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Gün 1: Hoşgeldin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ilk adım CTA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1664208"/>
            <a:ext cx="868680" cy="868680"/>
          </a:xfrm>
          <a:prstGeom prst="ellipse">
            <a:avLst/>
          </a:prstGeom>
          <a:solidFill>
            <a:srgbClr val="0D1F3C"/>
          </a:solidFill>
          <a:ln w="3175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2697480" y="2724912"/>
            <a:ext cx="2148840" cy="1901952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97480" y="2724912"/>
            <a:ext cx="54864" cy="19019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07208" y="2834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Taramayı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Çalıştır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807208" y="3337560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domain taraması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hesaplanır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first_scan_at kaydedilir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97480" y="4773168"/>
            <a:ext cx="2148840" cy="1170432"/>
          </a:xfrm>
          <a:prstGeom prst="rect">
            <a:avLst/>
          </a:prstGeom>
          <a:solidFill>
            <a:srgbClr val="060D1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97480" y="4773168"/>
            <a:ext cx="54864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07208" y="4864608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Gün 3: Hâlâ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yapmadınız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32120" y="1664208"/>
            <a:ext cx="868680" cy="868680"/>
          </a:xfrm>
          <a:prstGeom prst="ellipse">
            <a:avLst/>
          </a:prstGeom>
          <a:solidFill>
            <a:srgbClr val="0D1F3C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5029200" y="2724912"/>
            <a:ext cx="2148840" cy="1901952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2724912"/>
            <a:ext cx="54864" cy="19019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2834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Raporunu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38928" y="3337560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rapor hazır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senaryolar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risk analizi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0" y="4773168"/>
            <a:ext cx="2148840" cy="1170432"/>
          </a:xfrm>
          <a:prstGeom prst="rect">
            <a:avLst/>
          </a:prstGeom>
          <a:solidFill>
            <a:srgbClr val="060D1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0" y="4773168"/>
            <a:ext cx="54864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38928" y="4864608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Gün 7: Raporunuz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— görmediniz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863840" y="1664208"/>
            <a:ext cx="868680" cy="868680"/>
          </a:xfrm>
          <a:prstGeom prst="ellipse">
            <a:avLst/>
          </a:prstGeom>
          <a:solidFill>
            <a:srgbClr val="0D1F3C"/>
          </a:solidFill>
          <a:ln w="31750">
            <a:solidFill>
              <a:srgbClr val="A855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6384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8" name="Shape 56"/>
          <p:cNvSpPr/>
          <p:nvPr/>
        </p:nvSpPr>
        <p:spPr>
          <a:xfrm>
            <a:off x="7360920" y="2724912"/>
            <a:ext cx="2148840" cy="1901952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60920" y="2724912"/>
            <a:ext cx="54864" cy="19019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70648" y="2834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Seç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470648" y="3337560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/ Pro / vCISO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gün ücretsiz deneme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Iyzico ödeme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60920" y="4773168"/>
            <a:ext cx="2148840" cy="1170432"/>
          </a:xfrm>
          <a:prstGeom prst="rect">
            <a:avLst/>
          </a:prstGeom>
          <a:solidFill>
            <a:srgbClr val="060D1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60920" y="4773168"/>
            <a:ext cx="54864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70648" y="4864608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Gün 14: Trial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bitmeden son şans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195560" y="1664208"/>
            <a:ext cx="868680" cy="868680"/>
          </a:xfrm>
          <a:prstGeom prst="ellipse">
            <a:avLst/>
          </a:prstGeom>
          <a:solidFill>
            <a:srgbClr val="0D1F3C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19556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7" name="Shape 65"/>
          <p:cNvSpPr/>
          <p:nvPr/>
        </p:nvSpPr>
        <p:spPr>
          <a:xfrm>
            <a:off x="9692640" y="2724912"/>
            <a:ext cx="2148840" cy="1901952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92640" y="2724912"/>
            <a:ext cx="54864" cy="19019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02368" y="2834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İzlemeyi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9802368" y="3337560"/>
            <a:ext cx="1920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tamamlandı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Çilgisi onboarding_completed_at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 abonelik aktif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692640" y="4773168"/>
            <a:ext cx="2148840" cy="1170432"/>
          </a:xfrm>
          <a:prstGeom prst="rect">
            <a:avLst/>
          </a:prstGeom>
          <a:solidFill>
            <a:srgbClr val="060D1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92640" y="4773168"/>
            <a:ext cx="54864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02368" y="4864608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Kurulum rehberi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ilk hafta raporu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65760" y="6108192"/>
            <a:ext cx="1143000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6181344"/>
            <a:ext cx="11155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DB Takibi: onboarding_step (0-5) · first_scan_at · first_payment_at · onboarding_completed_at · customer_activation_monitor cron (Her gün 11:00)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 6 — ÜCRETLİ SERVİSE YÖNLENDİRME STRATEJİSİ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müşteri eylemi bir sonraki servise kapı açar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274320" y="1417320"/>
            <a:ext cx="2240280" cy="187452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417320"/>
            <a:ext cx="54864" cy="18745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Tarama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Rapor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21762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60 altında →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kritik bulgunuzu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3145536"/>
            <a:ext cx="2011680" cy="228600"/>
          </a:xfrm>
          <a:prstGeom prst="rect">
            <a:avLst/>
          </a:prstGeom>
          <a:solidFill>
            <a:srgbClr val="0D1F3C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145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seferlik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14600" y="22402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651760" y="1417320"/>
            <a:ext cx="2240280" cy="187452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51760" y="1417320"/>
            <a:ext cx="54864" cy="1874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61488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Rapor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61488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İzleme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61488" y="21762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DMARC/NS değişim riski →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"Sürekli izleme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başlatın"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61488" y="3145536"/>
            <a:ext cx="2011680" cy="228600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61488" y="3145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TL/ay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22402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029200" y="1417320"/>
            <a:ext cx="2240280" cy="187452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1417320"/>
            <a:ext cx="54864" cy="1874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38928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İzleme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38928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Kalkan Paketi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38928" y="21762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gün sonra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"Tüm koruma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2.990 TL/ay"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138928" y="3145536"/>
            <a:ext cx="2011680" cy="228600"/>
          </a:xfrm>
          <a:prstGeom prst="rect">
            <a:avLst/>
          </a:prstGeom>
          <a:solidFill>
            <a:srgbClr val="0D1F3C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3145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2.990 TL/ay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69480" y="22402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406640" y="1417320"/>
            <a:ext cx="2240280" cy="187452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06640" y="1417320"/>
            <a:ext cx="54864" cy="1874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16368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Kalkan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516368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Zırh Paketi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516368" y="21762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eşleşmesi →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"Tehdit istihbaratı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ekleyin"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516368" y="3145536"/>
            <a:ext cx="2011680" cy="228600"/>
          </a:xfrm>
          <a:prstGeom prst="rect">
            <a:avLst/>
          </a:prstGeom>
          <a:solidFill>
            <a:srgbClr val="0D1F3C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16368" y="3145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5.990 TL/ay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646920" y="224028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9784080" y="1417320"/>
            <a:ext cx="2240280" cy="187452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84080" y="1417320"/>
            <a:ext cx="54864" cy="1874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93808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Zırh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893808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893808" y="21762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kurulu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raporu ihtiyacı →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"Expert + Platform"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893808" y="3145536"/>
            <a:ext cx="2011680" cy="228600"/>
          </a:xfrm>
          <a:prstGeom prst="rect">
            <a:avLst/>
          </a:prstGeom>
          <a:solidFill>
            <a:srgbClr val="0D1F3C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893808" y="3145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9.990 TL/ay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36118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Upsell Tetikleyicileri (upsell_engine cron — Gece 23:00)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65760" y="4096512"/>
            <a:ext cx="374904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4096512"/>
            <a:ext cx="54864" cy="117043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4187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Sağlık skoru &lt; 40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02920" y="45354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riski → retention paketi teklifi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297680" y="4096512"/>
            <a:ext cx="374904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97680" y="4096512"/>
            <a:ext cx="54864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34840" y="4187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SOC olayı açıldı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434840" y="45354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müşterisine değil → SOC Lite upsell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229600" y="4096512"/>
            <a:ext cx="374904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29600" y="4096512"/>
            <a:ext cx="54864" cy="1170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66760" y="4187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DNS değişikliği alarmı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8366760" y="45354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izleme yoksa → abonelik teklifi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65760" y="5394960"/>
            <a:ext cx="374904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5760" y="5394960"/>
            <a:ext cx="54864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3+ CVE eşleşmesi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02920" y="58338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izleme yoksa → tehdit istihbarat teklifi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4297680" y="5394960"/>
            <a:ext cx="374904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97680" y="5394960"/>
            <a:ext cx="54864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3484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Board raporu açıldı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4434840" y="58338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vCISO paketine yönlendirme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229600" y="5394960"/>
            <a:ext cx="374904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229600" y="5394960"/>
            <a:ext cx="54864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6676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TPRM taraması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8366760" y="58338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aboneliğe yönlendirme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OTORİTE YOLCULUĞU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 kaynak olmak — 7 kanal, 3 aşama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365760" y="1417320"/>
            <a:ext cx="3749040" cy="521208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1417320"/>
            <a:ext cx="54864" cy="5212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1536192"/>
            <a:ext cx="685800" cy="685800"/>
          </a:xfrm>
          <a:prstGeom prst="ellipse">
            <a:avLst/>
          </a:prstGeom>
          <a:solidFill>
            <a:srgbClr val="0D1F3C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5361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280160" y="1572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Farkındalık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" y="2304288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Türkiye'nin siber güvenlik sesine dönüş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" y="2788920"/>
            <a:ext cx="3529584" cy="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290779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Türkiye Siber Risk Endeksi yayını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" y="341071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LinkedIn'de haftalık veri paylaşımı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" y="391363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CISO Haftalık Bülten — ilk 200 abone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" y="441655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Araştırma verisiyle desteklenen içerikler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1417320"/>
            <a:ext cx="3749040" cy="5212080"/>
          </a:xfrm>
          <a:prstGeom prst="rect">
            <a:avLst/>
          </a:prstGeom>
          <a:solidFill>
            <a:srgbClr val="08142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1417320"/>
            <a:ext cx="54864" cy="5212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07408" y="1536192"/>
            <a:ext cx="685800" cy="685800"/>
          </a:xfrm>
          <a:prstGeom prst="ellipse">
            <a:avLst/>
          </a:prstGeom>
          <a:solidFill>
            <a:srgbClr val="0D1F3C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07408" y="15361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212080" y="1572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1208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3-9 ay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07408" y="2304288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alınan platform haline gelme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407408" y="2788920"/>
            <a:ext cx="3529584" cy="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07408" y="290779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Aylık endeks medyaya duyurulur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07408" y="341071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Sektör raporları (e-ticaret, lojistik)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07408" y="391363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Vaka çalışmaları (anonim) yayını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407408" y="441655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Partner &amp; bayi ağına sunum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0" y="1417320"/>
            <a:ext cx="3749040" cy="5212080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0" y="1417320"/>
            <a:ext cx="54864" cy="5212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39328" y="1536192"/>
            <a:ext cx="685800" cy="685800"/>
          </a:xfrm>
          <a:prstGeom prst="ellipse">
            <a:avLst/>
          </a:prstGeom>
          <a:solidFill>
            <a:srgbClr val="0D1F3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9328" y="15361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9144000" y="1572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Otorite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14400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9-18 ay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339328" y="2304288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Türkiye'nin önde gelen siber güvenlik platformu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339328" y="2788920"/>
            <a:ext cx="3529584" cy="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39328" y="290779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BTK/KVKK kurumlarıyla işbirliği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39328" y="341071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Konferans sunumları (Interop, ISACA TR)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339328" y="391363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Medya referans kaynağı olma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339328" y="441655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Uluslararası kayıtlarda Türkiye verisi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OTORİTE SİLAHI 1 — TÜRKİYE SİBER RİSK ENDEKSİ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ay üretilen, medyaya gönderilen bağımsız ölçüm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6080760" y="365760"/>
            <a:ext cx="0" cy="64008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2984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Endeks Nasıl Üretilir?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1783080"/>
            <a:ext cx="54406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1783080"/>
            <a:ext cx="54864" cy="9601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1856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CISA KEV Aktif CVE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220370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istismar edilen güvenlik açığı sayısı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2862072"/>
            <a:ext cx="54406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862072"/>
            <a:ext cx="54864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9352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🇹🇷  USOM Zararlı Liste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328269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BTK zararlı URL/IP liste büyüklüğü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941064"/>
            <a:ext cx="54406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941064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0142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Platform Tarama Verisi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43616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CyberStep'in binlerce .tr domain taramasından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5020056"/>
            <a:ext cx="54406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5020056"/>
            <a:ext cx="54864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5093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Sektörel İhlal Sayısı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54406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içinde tespit edilen veri ihlalleri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6144768"/>
            <a:ext cx="544068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2179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= CVE Sayısı×2 + USOM Büyüklük×0.01 + Sektör İhlali×5  →  0-100 bandına normalize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129844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Duyuru Stratejisi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0" y="1755648"/>
            <a:ext cx="557784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1755648"/>
            <a:ext cx="54864" cy="8046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18288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Ayın 1'i — Endeks Güncellendi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10528" y="21214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TurkeyThreatIndex cron otomatik hesaplar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sayfa /turkiye-siber-risk-endeksi güncellenir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0" y="2670048"/>
            <a:ext cx="557784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2670048"/>
            <a:ext cx="54864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0528" y="2743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Ayın 2'si — LinkedIn Post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10528" y="30358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"Türkiye siber risk endeksi X puana geriledi/yükseldi — En kritik 3 sebep..."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0" y="3584448"/>
            <a:ext cx="557784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0" y="3584448"/>
            <a:ext cx="54864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10528" y="36576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Ayın 2'si — Medya Bülteni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10528" y="39502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medyasına (ShiftDelete, Chip, BT Haber) basın bülteni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Endeks verisi + sektörel kırılım + uzman yorumu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00800" y="4498848"/>
            <a:ext cx="557784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0" y="4498848"/>
            <a:ext cx="54864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10528" y="45720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Ayın 3'ü — CISO Bülteninde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510528" y="48646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ay CISO Haftalık Bülten'de önceki ayla karşılaştırma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Abonelere endeks özeti e-posta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00800" y="5413248"/>
            <a:ext cx="557784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0" y="5413248"/>
            <a:ext cx="54864" cy="80467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10528" y="54864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X Reels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510528" y="577900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ay Türkiye siber risk endeksi..." kısa video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renk paleti, infografik format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OTORİTE SİLAHI 2 — SOSYAL MEDYA &amp; İÇERİK OTOMASYONu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Haftada 5+ içerik, aylık 20+ paylaşım — tamamen otomatik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274320" y="1417320"/>
            <a:ext cx="3749040" cy="230428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417320"/>
            <a:ext cx="54864" cy="23042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1508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Pazartesi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19202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blog_autopilot cron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24688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odaklı Türkçe blog yazısı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0175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kelime: DMARC, KVKK, siber güvenlik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1417320"/>
            <a:ext cx="3749040" cy="230428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1417320"/>
            <a:ext cx="54864" cy="2304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508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Salı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89120" y="19202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Sektör datası paylaşımı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24688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hafta X .tr domain'de DMARC yok"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0" y="30175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 + platform CTA linki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1417320"/>
            <a:ext cx="3749040" cy="230428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1417320"/>
            <a:ext cx="54864" cy="23042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15087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Çarşamba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66760" y="19202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Haber yorumu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66760" y="24688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digest_enrich cron çıktısından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66760" y="30175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Türkiye'ye özel güvenlik haberi analizi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867912"/>
            <a:ext cx="3749040" cy="230428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3867912"/>
            <a:ext cx="54864" cy="23042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9593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Perşembe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11480" y="4370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blog_autopilot cron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11480" y="49194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blog yazısı hafta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" y="54681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Vaka analizi veya how-to formatı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51960" y="3867912"/>
            <a:ext cx="3749040" cy="230428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51960" y="3867912"/>
            <a:ext cx="54864" cy="23042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9593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Cuma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389120" y="4370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CISO Haftalık Bülten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389120" y="49194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bölüm, haftalık_bulten cron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89120" y="54681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İstanbul — abone listesine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29600" y="3867912"/>
            <a:ext cx="3749040" cy="2304288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29600" y="3867912"/>
            <a:ext cx="54864" cy="2304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66760" y="39593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366760" y="4370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social_media_content cron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366760" y="49194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sosyal medya paketi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366760" y="54681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Instagram + X formatları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AYLAK TAKVİM &amp; BAŞARI KRİTERLERİ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43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ay ne üretiliyor, nasıl ölçülüyor?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6080760" y="365760"/>
            <a:ext cx="0" cy="64008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2984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Ay Üretilen Çıktılar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1755648"/>
            <a:ext cx="5486400" cy="19019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1755648"/>
            <a:ext cx="54864" cy="19019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184708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Satış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221284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~6.000-9.000 yeni domain keşfi (200-300/gün × 30)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24871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~300-600 qualified lead (overallScore &lt; 60)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276148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~120-240 kontakt bilgisi (WHOIS+web+MERSIS)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03580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~60-80 ISR LinkedIn araması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31012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~500-1.000 outreach e-postası (rate limiting ile)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749040"/>
            <a:ext cx="5486400" cy="19019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749040"/>
            <a:ext cx="54864" cy="19019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8404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420624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× Türkiye Siber Risk Endeksi (public)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4805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 × SOC Haftalık Rapor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475488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× Board Report (ödeme yapan müşteriler)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502920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 × CISO Haftalık Bülten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530352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× Aylık Tehdit İstihbarat Raporu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5742432"/>
            <a:ext cx="5486400" cy="19019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5742432"/>
            <a:ext cx="54864" cy="19019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58338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&amp; Marka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619963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8-12 × SEO blog yazısı (blog_autopilot)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20-25 × Sosyal medya paylaşımı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674827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 × Haftalık özet (LinkedIn newsletter)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70225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× Basın bülteni (endeks haberi)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729691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× Instagram/X Reels (endeks video)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0" y="129844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KPI'ları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400800" y="1719072"/>
            <a:ext cx="5577840" cy="2084832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1719072"/>
            <a:ext cx="54864" cy="20848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0528" y="1810512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Pipeline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510528" y="2514600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240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yeni qualified lead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10412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300-600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510528" y="2880360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3796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bulunma oranı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104120" y="26060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%40-50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510528" y="3246120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3796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dönüşüm oranı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0104120" y="2971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%5-8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510528" y="3611880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açılma oranı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01041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%20-30%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00800" y="3895344"/>
            <a:ext cx="5577840" cy="2084832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00800" y="3895344"/>
            <a:ext cx="54864" cy="20848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10528" y="398678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Dönüşüm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510528" y="4690872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37960" y="4416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→ ücretli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0104120" y="44165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%5-8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510528" y="5056632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37960" y="4782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tamamlama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0104120" y="4782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&gt;%60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510528" y="5422392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37960" y="5148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gün aktivasyon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10104120" y="51480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&gt;%40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510528" y="5788152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5513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&lt; hedef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0104120" y="55138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&lt;%10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400800" y="6071616"/>
            <a:ext cx="5577840" cy="2084832"/>
          </a:xfrm>
          <a:prstGeom prst="rect">
            <a:avLst/>
          </a:prstGeom>
          <a:solidFill>
            <a:srgbClr val="08142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00800" y="6071616"/>
            <a:ext cx="54864" cy="20848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10528" y="616305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Otorite &amp; Marka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6510528" y="6867144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37960" y="6592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Bülten abonesi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0104120" y="6592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(6 ay)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510528" y="7232904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37960" y="6958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takipçi artışı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10104120" y="69585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100+/ay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510528" y="7598664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37960" y="7324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Endeks medya atıfı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10104120" y="73243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3+/ay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510528" y="7964424"/>
            <a:ext cx="5349240" cy="0"/>
          </a:xfrm>
          <a:prstGeom prst="line">
            <a:avLst/>
          </a:prstGeom>
          <a:noFill/>
          <a:ln w="5080">
            <a:solidFill>
              <a:srgbClr val="1A28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37960" y="7690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domain tarama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10104120" y="7690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50+/ay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0" y="0"/>
            <a:ext cx="0" cy="685800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85953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71907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57860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38144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297680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157216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16752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76288"/>
            <a:ext cx="12161520" cy="0"/>
          </a:xfrm>
          <a:prstGeom prst="line">
            <a:avLst/>
          </a:prstGeom>
          <a:noFill/>
          <a:ln w="5080">
            <a:solidFill>
              <a:srgbClr val="0D1F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-1828800"/>
            <a:ext cx="9144000" cy="9144000"/>
          </a:xfrm>
          <a:prstGeom prst="ellipse">
            <a:avLst/>
          </a:prstGeom>
          <a:solidFill>
            <a:srgbClr val="003355">
              <a:alpha val="22000"/>
            </a:srgbClr>
          </a:solidFill>
          <a:ln w="12700">
            <a:solidFill>
              <a:srgbClr val="003355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02920"/>
            <a:ext cx="502920" cy="5943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29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576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pPr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Döngü Özeti</a:t>
            </a:r>
            <a:endParaRPr lang="en-US" sz="3800" dirty="0"/>
          </a:p>
        </p:txBody>
      </p:sp>
      <p:sp>
        <p:nvSpPr>
          <p:cNvPr id="32" name="Shape 30"/>
          <p:cNvSpPr/>
          <p:nvPr/>
        </p:nvSpPr>
        <p:spPr>
          <a:xfrm>
            <a:off x="548640" y="2304288"/>
            <a:ext cx="1508760" cy="15087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30428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4864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9502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kaynak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200-300/gün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57400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514600" y="2304288"/>
            <a:ext cx="1508760" cy="15087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30428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251460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423160" y="39502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Kalifiye etme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23360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4480560" y="2304288"/>
            <a:ext cx="1508760" cy="15087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FF4D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230428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448056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389120" y="39502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Tetikleyici bazlı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89320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6446520" y="2304288"/>
            <a:ext cx="1508760" cy="15087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230428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644652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55080" y="39502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55280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8412480" y="2304288"/>
            <a:ext cx="1508760" cy="15087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A855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0" y="230428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841248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21040" y="39502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921240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10378440" y="2304288"/>
            <a:ext cx="1508760" cy="150876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78440" y="230428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1037844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0287000" y="39502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motor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681728"/>
            <a:ext cx="112471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475488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Türkiye'nin siber güvenlik otorite platformu → Orta Doğu &amp; Orta Asya ekspansiyonu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14400" y="5468112"/>
            <a:ext cx="242316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400" y="5468112"/>
            <a:ext cx="54864" cy="1170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200-300+</a:t>
            </a:r>
            <a:endParaRPr lang="en-US" sz="3200" dirty="0"/>
          </a:p>
        </p:txBody>
      </p:sp>
      <p:sp>
        <p:nvSpPr>
          <p:cNvPr id="66" name="Text 64"/>
          <p:cNvSpPr/>
          <p:nvPr/>
        </p:nvSpPr>
        <p:spPr>
          <a:xfrm>
            <a:off x="914400" y="61081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lead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566160" y="5468112"/>
            <a:ext cx="242316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566160" y="5468112"/>
            <a:ext cx="54864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66160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%40-50</a:t>
            </a:r>
            <a:endParaRPr lang="en-US" sz="3200" dirty="0"/>
          </a:p>
        </p:txBody>
      </p:sp>
      <p:sp>
        <p:nvSpPr>
          <p:cNvPr id="70" name="Text 68"/>
          <p:cNvSpPr/>
          <p:nvPr/>
        </p:nvSpPr>
        <p:spPr>
          <a:xfrm>
            <a:off x="3566160" y="61081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oran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217920" y="5468112"/>
            <a:ext cx="242316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7920" y="5468112"/>
            <a:ext cx="54864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0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</a:t>
            </a:r>
            <a:endParaRPr lang="en-US" sz="3200" dirty="0"/>
          </a:p>
        </p:txBody>
      </p:sp>
      <p:sp>
        <p:nvSpPr>
          <p:cNvPr id="74" name="Text 72"/>
          <p:cNvSpPr/>
          <p:nvPr/>
        </p:nvSpPr>
        <p:spPr>
          <a:xfrm>
            <a:off x="6217920" y="61081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869680" y="5468112"/>
            <a:ext cx="242316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869680" y="5468112"/>
            <a:ext cx="54864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869680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kanal</a:t>
            </a:r>
            <a:endParaRPr lang="en-US" sz="3200" dirty="0"/>
          </a:p>
        </p:txBody>
      </p:sp>
      <p:sp>
        <p:nvSpPr>
          <p:cNvPr id="78" name="Text 76"/>
          <p:cNvSpPr/>
          <p:nvPr/>
        </p:nvSpPr>
        <p:spPr>
          <a:xfrm>
            <a:off x="8869680" y="61081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Otorite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7200" y="656539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cyberstep.io  ·  Haziran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CyberStep.io — Lead &amp; Büyüme Motoru</dc:title>
  <dc:subject>PptxGenJS Presentation</dc:subject>
  <dc:creator>PptxGenJS</dc:creator>
  <cp:lastModifiedBy>PptxGenJS</cp:lastModifiedBy>
  <cp:revision>1</cp:revision>
  <dcterms:created xsi:type="dcterms:W3CDTF">2026-06-11T16:14:58Z</dcterms:created>
  <dcterms:modified xsi:type="dcterms:W3CDTF">2026-06-11T16:14:58Z</dcterms:modified>
</cp:coreProperties>
</file>